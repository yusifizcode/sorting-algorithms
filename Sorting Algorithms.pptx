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Roboto"/>
      <p:regular r:id="rId12"/>
      <p:bold r:id="rId13"/>
      <p:italic r:id="rId14"/>
      <p:boldItalic r:id="rId15"/>
    </p:embeddedFont>
    <p:embeddedFont>
      <p:font typeface="Merriweather"/>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Roboto-bold.fntdata"/><Relationship Id="rId12" Type="http://schemas.openxmlformats.org/officeDocument/2006/relationships/font" Target="fonts/Robo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boldItalic.fntdata"/><Relationship Id="rId14" Type="http://schemas.openxmlformats.org/officeDocument/2006/relationships/font" Target="fonts/Roboto-italic.fntdata"/><Relationship Id="rId17" Type="http://schemas.openxmlformats.org/officeDocument/2006/relationships/font" Target="fonts/Merriweather-bold.fntdata"/><Relationship Id="rId16" Type="http://schemas.openxmlformats.org/officeDocument/2006/relationships/font" Target="fonts/Merriweather-regular.fntdata"/><Relationship Id="rId5" Type="http://schemas.openxmlformats.org/officeDocument/2006/relationships/notesMaster" Target="notesMasters/notesMaster1.xml"/><Relationship Id="rId19" Type="http://schemas.openxmlformats.org/officeDocument/2006/relationships/font" Target="fonts/Merriweather-boldItalic.fntdata"/><Relationship Id="rId6" Type="http://schemas.openxmlformats.org/officeDocument/2006/relationships/slide" Target="slides/slide1.xml"/><Relationship Id="rId18" Type="http://schemas.openxmlformats.org/officeDocument/2006/relationships/font" Target="fonts/Merriweather-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11905424822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11905424822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11905424822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11905424822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11905424822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11905424822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11905424822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11905424822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11905424822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11905424822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3"/>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Sorting Algorithms</a:t>
            </a:r>
            <a:endParaRPr/>
          </a:p>
        </p:txBody>
      </p:sp>
      <p:sp>
        <p:nvSpPr>
          <p:cNvPr id="65" name="Google Shape;65;p13"/>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a:t>
            </a:r>
            <a:r>
              <a:rPr lang="en"/>
              <a:t>y Yusif Osmanov</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4"/>
          <p:cNvSpPr txBox="1"/>
          <p:nvPr>
            <p:ph type="title"/>
          </p:nvPr>
        </p:nvSpPr>
        <p:spPr>
          <a:xfrm>
            <a:off x="214950" y="500925"/>
            <a:ext cx="3892200" cy="2508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Selection Sort</a:t>
            </a:r>
            <a:endParaRPr/>
          </a:p>
          <a:p>
            <a:pPr indent="0" lvl="0" marL="0" rtl="0" algn="l">
              <a:spcBef>
                <a:spcPts val="0"/>
              </a:spcBef>
              <a:spcAft>
                <a:spcPts val="0"/>
              </a:spcAft>
              <a:buNone/>
            </a:pPr>
            <a:r>
              <a:rPr lang="en" sz="1400"/>
              <a:t>Bu alqoritm adından göründüyü kimi massivdə hər növbəti addımda ən kiçik elementi seçib əvvələ yerləşdirərək işləyir. Alqoritm verilmiş massivdə iki alt massiv saxlayır:</a:t>
            </a:r>
            <a:endParaRPr sz="1400"/>
          </a:p>
          <a:p>
            <a:pPr indent="-308610" lvl="0" marL="457200" rtl="0" algn="l">
              <a:spcBef>
                <a:spcPts val="0"/>
              </a:spcBef>
              <a:spcAft>
                <a:spcPts val="0"/>
              </a:spcAft>
              <a:buSzPct val="100000"/>
              <a:buAutoNum type="arabicParenR"/>
            </a:pPr>
            <a:r>
              <a:rPr lang="en" sz="1400"/>
              <a:t>Sıralanmış massiv</a:t>
            </a:r>
            <a:endParaRPr sz="1400"/>
          </a:p>
          <a:p>
            <a:pPr indent="-308610" lvl="0" marL="457200" rtl="0" algn="l">
              <a:spcBef>
                <a:spcPts val="0"/>
              </a:spcBef>
              <a:spcAft>
                <a:spcPts val="0"/>
              </a:spcAft>
              <a:buSzPct val="100000"/>
              <a:buAutoNum type="arabicParenR"/>
            </a:pPr>
            <a:r>
              <a:rPr lang="en" sz="1400"/>
              <a:t>Sıralanmamış massiv</a:t>
            </a:r>
            <a:endParaRPr sz="1400"/>
          </a:p>
          <a:p>
            <a:pPr indent="0" lvl="0" marL="0" rtl="0" algn="l">
              <a:spcBef>
                <a:spcPts val="0"/>
              </a:spcBef>
              <a:spcAft>
                <a:spcPts val="0"/>
              </a:spcAft>
              <a:buNone/>
            </a:pPr>
            <a:r>
              <a:rPr lang="en" sz="1400"/>
              <a:t>Sıralanmamış massivin ən kiçik elementini taparaq hər dəfəsində sıralanmış massivə əlavə edir. (Time complexity worst-case: </a:t>
            </a:r>
            <a:r>
              <a:rPr lang="en" sz="1200">
                <a:solidFill>
                  <a:srgbClr val="212529"/>
                </a:solidFill>
                <a:highlight>
                  <a:srgbClr val="FFFFFF"/>
                </a:highlight>
                <a:latin typeface="Roboto"/>
                <a:ea typeface="Roboto"/>
                <a:cs typeface="Roboto"/>
                <a:sym typeface="Roboto"/>
              </a:rPr>
              <a:t>O(n</a:t>
            </a:r>
            <a:r>
              <a:rPr lang="en" sz="650">
                <a:solidFill>
                  <a:srgbClr val="212529"/>
                </a:solidFill>
                <a:highlight>
                  <a:srgbClr val="FFFFFF"/>
                </a:highlight>
                <a:latin typeface="Roboto"/>
                <a:ea typeface="Roboto"/>
                <a:cs typeface="Roboto"/>
                <a:sym typeface="Roboto"/>
              </a:rPr>
              <a:t>2</a:t>
            </a:r>
            <a:r>
              <a:rPr lang="en" sz="1200">
                <a:solidFill>
                  <a:srgbClr val="212529"/>
                </a:solidFill>
                <a:highlight>
                  <a:srgbClr val="FFFFFF"/>
                </a:highlight>
                <a:latin typeface="Roboto"/>
                <a:ea typeface="Roboto"/>
                <a:cs typeface="Roboto"/>
                <a:sym typeface="Roboto"/>
              </a:rPr>
              <a:t>)</a:t>
            </a:r>
            <a:r>
              <a:rPr lang="en" sz="1400"/>
              <a:t>)</a:t>
            </a:r>
            <a:endParaRPr sz="1400"/>
          </a:p>
          <a:p>
            <a:pPr indent="0" lvl="0" marL="0" rtl="0" algn="l">
              <a:spcBef>
                <a:spcPts val="0"/>
              </a:spcBef>
              <a:spcAft>
                <a:spcPts val="0"/>
              </a:spcAft>
              <a:buNone/>
            </a:pPr>
            <a:r>
              <a:t/>
            </a:r>
            <a:endParaRPr/>
          </a:p>
        </p:txBody>
      </p:sp>
      <p:pic>
        <p:nvPicPr>
          <p:cNvPr id="71" name="Google Shape;71;p14"/>
          <p:cNvPicPr preferRelativeResize="0"/>
          <p:nvPr/>
        </p:nvPicPr>
        <p:blipFill>
          <a:blip r:embed="rId3">
            <a:alphaModFix/>
          </a:blip>
          <a:stretch>
            <a:fillRect/>
          </a:stretch>
        </p:blipFill>
        <p:spPr>
          <a:xfrm>
            <a:off x="5446450" y="871175"/>
            <a:ext cx="2495550" cy="3048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Bubble Sort</a:t>
            </a:r>
            <a:endParaRPr/>
          </a:p>
          <a:p>
            <a:pPr indent="0" lvl="0" marL="0" rtl="0" algn="l">
              <a:spcBef>
                <a:spcPts val="0"/>
              </a:spcBef>
              <a:spcAft>
                <a:spcPts val="0"/>
              </a:spcAft>
              <a:buNone/>
            </a:pPr>
            <a:r>
              <a:rPr lang="en" sz="1400"/>
              <a:t>Bu alqoritm massivin başından başlayaraq, sonuna qədər bütün elementləri özündən sonrakı element ilə qarşılaşdırır. Əgər sonrakı elementdən böyükdürsə yerlərini dəyişdirir və bu massiv bitənə qədər davam edir.(Time complexity worst-case:</a:t>
            </a:r>
            <a:r>
              <a:rPr lang="en" sz="1200">
                <a:solidFill>
                  <a:srgbClr val="212529"/>
                </a:solidFill>
                <a:highlight>
                  <a:srgbClr val="FFFFFF"/>
                </a:highlight>
                <a:latin typeface="Roboto"/>
                <a:ea typeface="Roboto"/>
                <a:cs typeface="Roboto"/>
                <a:sym typeface="Roboto"/>
              </a:rPr>
              <a:t>O(n</a:t>
            </a:r>
            <a:r>
              <a:rPr lang="en" sz="650">
                <a:solidFill>
                  <a:srgbClr val="212529"/>
                </a:solidFill>
                <a:highlight>
                  <a:srgbClr val="FFFFFF"/>
                </a:highlight>
                <a:latin typeface="Roboto"/>
                <a:ea typeface="Roboto"/>
                <a:cs typeface="Roboto"/>
                <a:sym typeface="Roboto"/>
              </a:rPr>
              <a:t>2</a:t>
            </a:r>
            <a:r>
              <a:rPr lang="en" sz="1200">
                <a:solidFill>
                  <a:srgbClr val="212529"/>
                </a:solidFill>
                <a:highlight>
                  <a:srgbClr val="FFFFFF"/>
                </a:highlight>
                <a:latin typeface="Roboto"/>
                <a:ea typeface="Roboto"/>
                <a:cs typeface="Roboto"/>
                <a:sym typeface="Roboto"/>
              </a:rPr>
              <a:t>)</a:t>
            </a:r>
            <a:r>
              <a:rPr lang="en" sz="1400"/>
              <a:t>)</a:t>
            </a:r>
            <a:endParaRPr sz="1400"/>
          </a:p>
        </p:txBody>
      </p:sp>
      <p:pic>
        <p:nvPicPr>
          <p:cNvPr id="77" name="Google Shape;77;p15"/>
          <p:cNvPicPr preferRelativeResize="0"/>
          <p:nvPr/>
        </p:nvPicPr>
        <p:blipFill>
          <a:blip r:embed="rId3">
            <a:alphaModFix/>
          </a:blip>
          <a:stretch>
            <a:fillRect/>
          </a:stretch>
        </p:blipFill>
        <p:spPr>
          <a:xfrm>
            <a:off x="4884575" y="152400"/>
            <a:ext cx="3600102" cy="4838700"/>
          </a:xfrm>
          <a:prstGeom prst="rect">
            <a:avLst/>
          </a:prstGeom>
          <a:noFill/>
          <a:ln>
            <a:noFill/>
          </a:ln>
        </p:spPr>
      </p:pic>
      <p:pic>
        <p:nvPicPr>
          <p:cNvPr id="78" name="Google Shape;78;p15"/>
          <p:cNvPicPr preferRelativeResize="0"/>
          <p:nvPr/>
        </p:nvPicPr>
        <p:blipFill>
          <a:blip r:embed="rId4">
            <a:alphaModFix/>
          </a:blip>
          <a:stretch>
            <a:fillRect/>
          </a:stretch>
        </p:blipFill>
        <p:spPr>
          <a:xfrm>
            <a:off x="4884575" y="3193546"/>
            <a:ext cx="1295725" cy="16520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6"/>
          <p:cNvSpPr txBox="1"/>
          <p:nvPr>
            <p:ph type="title"/>
          </p:nvPr>
        </p:nvSpPr>
        <p:spPr>
          <a:xfrm>
            <a:off x="311725" y="500925"/>
            <a:ext cx="3706500" cy="2508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Insertion Sort</a:t>
            </a:r>
            <a:endParaRPr/>
          </a:p>
          <a:p>
            <a:pPr indent="0" lvl="0" marL="0" rtl="0" algn="l">
              <a:spcBef>
                <a:spcPts val="0"/>
              </a:spcBef>
              <a:spcAft>
                <a:spcPts val="0"/>
              </a:spcAft>
              <a:buNone/>
            </a:pPr>
            <a:r>
              <a:rPr lang="en" sz="1400"/>
              <a:t>Insertion (daxil etmə) sıralama alqoritmi sadə bir məntiqlə işləyir. Massivi sıralanmış və sıralanmamış olaraq 2 hissəyə bölür. Sıralanmamış hissədən elementi götürür və sıralanmış hissəyə atır. Bu alqoritm massivdə 2-ci elementdən başlayır və hər addımda hazırkı elementi öncəki element ilə müqayisə edərək yerini dəyişir. (Time complexity wosrt-case:</a:t>
            </a:r>
            <a:r>
              <a:rPr lang="en" sz="1200">
                <a:solidFill>
                  <a:srgbClr val="212529"/>
                </a:solidFill>
                <a:highlight>
                  <a:srgbClr val="FFFFFF"/>
                </a:highlight>
                <a:latin typeface="Roboto"/>
                <a:ea typeface="Roboto"/>
                <a:cs typeface="Roboto"/>
                <a:sym typeface="Roboto"/>
              </a:rPr>
              <a:t>O(n</a:t>
            </a:r>
            <a:r>
              <a:rPr lang="en" sz="650">
                <a:solidFill>
                  <a:srgbClr val="212529"/>
                </a:solidFill>
                <a:highlight>
                  <a:srgbClr val="FFFFFF"/>
                </a:highlight>
                <a:latin typeface="Roboto"/>
                <a:ea typeface="Roboto"/>
                <a:cs typeface="Roboto"/>
                <a:sym typeface="Roboto"/>
              </a:rPr>
              <a:t>2</a:t>
            </a:r>
            <a:r>
              <a:rPr lang="en" sz="1200">
                <a:solidFill>
                  <a:srgbClr val="212529"/>
                </a:solidFill>
                <a:highlight>
                  <a:srgbClr val="FFFFFF"/>
                </a:highlight>
                <a:latin typeface="Roboto"/>
                <a:ea typeface="Roboto"/>
                <a:cs typeface="Roboto"/>
                <a:sym typeface="Roboto"/>
              </a:rPr>
              <a:t>)</a:t>
            </a:r>
            <a:r>
              <a:rPr lang="en" sz="1400"/>
              <a:t>)</a:t>
            </a:r>
            <a:endParaRPr sz="1400"/>
          </a:p>
        </p:txBody>
      </p:sp>
      <p:pic>
        <p:nvPicPr>
          <p:cNvPr id="84" name="Google Shape;84;p16"/>
          <p:cNvPicPr preferRelativeResize="0"/>
          <p:nvPr/>
        </p:nvPicPr>
        <p:blipFill>
          <a:blip r:embed="rId3">
            <a:alphaModFix/>
          </a:blip>
          <a:stretch>
            <a:fillRect/>
          </a:stretch>
        </p:blipFill>
        <p:spPr>
          <a:xfrm>
            <a:off x="4955825" y="500925"/>
            <a:ext cx="3564717" cy="36091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ph type="title"/>
          </p:nvPr>
        </p:nvSpPr>
        <p:spPr>
          <a:xfrm>
            <a:off x="311725" y="500925"/>
            <a:ext cx="3706500" cy="2508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Merge Sort</a:t>
            </a:r>
            <a:endParaRPr/>
          </a:p>
          <a:p>
            <a:pPr indent="0" lvl="0" marL="0" rtl="0" algn="l">
              <a:spcBef>
                <a:spcPts val="0"/>
              </a:spcBef>
              <a:spcAft>
                <a:spcPts val="0"/>
              </a:spcAft>
              <a:buNone/>
            </a:pPr>
            <a:r>
              <a:rPr lang="en" sz="1400"/>
              <a:t>Merge (birləşdirmə) sıralama alqoritmi devide and conquer (böl və fəth et) məntiqi ilə işləyir. Əvvəlcə əsas massivi iki yerə bölür, daha sonra alınan iki massivi yenə alt massivlərə bölür. Alt massivlərin hərəsində 2 element qalana qədər davam edir və hər bir alt massiv elementlərini müqayisə edərək yenidən birləşdirməyə başlayır. Nəticədə massiv sıralanır. (Time complexity worst-case:</a:t>
            </a:r>
            <a:r>
              <a:rPr lang="en" sz="1200">
                <a:solidFill>
                  <a:srgbClr val="212529"/>
                </a:solidFill>
                <a:highlight>
                  <a:srgbClr val="FFFFFF"/>
                </a:highlight>
                <a:latin typeface="Roboto"/>
                <a:ea typeface="Roboto"/>
                <a:cs typeface="Roboto"/>
                <a:sym typeface="Roboto"/>
              </a:rPr>
              <a:t>O(nlogn)</a:t>
            </a:r>
            <a:r>
              <a:rPr lang="en" sz="1400"/>
              <a:t>)</a:t>
            </a:r>
            <a:endParaRPr sz="1400"/>
          </a:p>
        </p:txBody>
      </p:sp>
      <p:pic>
        <p:nvPicPr>
          <p:cNvPr id="90" name="Google Shape;90;p17"/>
          <p:cNvPicPr preferRelativeResize="0"/>
          <p:nvPr/>
        </p:nvPicPr>
        <p:blipFill>
          <a:blip r:embed="rId3">
            <a:alphaModFix/>
          </a:blip>
          <a:stretch>
            <a:fillRect/>
          </a:stretch>
        </p:blipFill>
        <p:spPr>
          <a:xfrm>
            <a:off x="4572006" y="503563"/>
            <a:ext cx="4296268" cy="41363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311725" y="500925"/>
            <a:ext cx="3706500" cy="2508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Quick Sort</a:t>
            </a:r>
            <a:endParaRPr/>
          </a:p>
          <a:p>
            <a:pPr indent="0" lvl="0" marL="0" rtl="0" algn="l">
              <a:spcBef>
                <a:spcPts val="0"/>
              </a:spcBef>
              <a:spcAft>
                <a:spcPts val="0"/>
              </a:spcAft>
              <a:buNone/>
            </a:pPr>
            <a:r>
              <a:rPr lang="en" sz="1400"/>
              <a:t>Bu alqoritm də merge sort alqoritm kimi devide and conquer məntiqi ilə işləyir. Əvvəlcə massivin ortasından bir pivot element seçir və bu elementdən kiçik olanları sola böyük olanları isə sağa yığır. Daha sonra sağdakı və soldakı elementlər üçün də pivot elementlər seçərək, eyni əməliyyatı təkrarlayır. (Time complexity worst-case:</a:t>
            </a:r>
            <a:r>
              <a:rPr lang="en" sz="1200">
                <a:solidFill>
                  <a:srgbClr val="212529"/>
                </a:solidFill>
                <a:highlight>
                  <a:srgbClr val="FFFFFF"/>
                </a:highlight>
                <a:latin typeface="Roboto"/>
                <a:ea typeface="Roboto"/>
                <a:cs typeface="Roboto"/>
                <a:sym typeface="Roboto"/>
              </a:rPr>
              <a:t>O(n</a:t>
            </a:r>
            <a:r>
              <a:rPr lang="en" sz="650">
                <a:solidFill>
                  <a:srgbClr val="212529"/>
                </a:solidFill>
                <a:highlight>
                  <a:srgbClr val="FFFFFF"/>
                </a:highlight>
                <a:latin typeface="Roboto"/>
                <a:ea typeface="Roboto"/>
                <a:cs typeface="Roboto"/>
                <a:sym typeface="Roboto"/>
              </a:rPr>
              <a:t>2</a:t>
            </a:r>
            <a:r>
              <a:rPr lang="en" sz="1200">
                <a:solidFill>
                  <a:srgbClr val="212529"/>
                </a:solidFill>
                <a:highlight>
                  <a:srgbClr val="FFFFFF"/>
                </a:highlight>
                <a:latin typeface="Roboto"/>
                <a:ea typeface="Roboto"/>
                <a:cs typeface="Roboto"/>
                <a:sym typeface="Roboto"/>
              </a:rPr>
              <a:t>)</a:t>
            </a:r>
            <a:r>
              <a:rPr lang="en" sz="1400"/>
              <a:t>)</a:t>
            </a:r>
            <a:endParaRPr sz="1400"/>
          </a:p>
        </p:txBody>
      </p:sp>
      <p:pic>
        <p:nvPicPr>
          <p:cNvPr id="96" name="Google Shape;96;p18"/>
          <p:cNvPicPr preferRelativeResize="0"/>
          <p:nvPr/>
        </p:nvPicPr>
        <p:blipFill>
          <a:blip r:embed="rId3">
            <a:alphaModFix/>
          </a:blip>
          <a:stretch>
            <a:fillRect/>
          </a:stretch>
        </p:blipFill>
        <p:spPr>
          <a:xfrm>
            <a:off x="4323025" y="870225"/>
            <a:ext cx="4820975" cy="213960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